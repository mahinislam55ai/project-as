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16 — Interrupt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26  |  Advanced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26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Interrupt কী? কখন ব্যবহার করবেন?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Interrupt Types — I/O, Timer, Communication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ATCH — Attach Interrupt Routine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DTCH — Detach Interrupt Routine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ENI / DISI — Enable / Disable Interrupt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CRETI — Conditional Return from Interrupt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Interrupt Event Table (Event 0~33)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548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457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7731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Practical: Emergency Stop with Interrupt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Interrupt — কীভাবে কাজ করে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Interrupt মানে: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Program চলার মাঝে হঠাৎ একটি জরুরি ঘটনা ঘটলে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Main Program থামিয়ে Interrupt Routine (INT) চালু হয়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INT শেষে আবার Main Program চলতে থাকে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কেন Scan Cycle এর চেয়ে ভালো?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Scan Time: 1~10ms — এটুকু দেরি অনেক সময় অনেক বেশি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Emergency Stop: মাইক্রোসেকেন্ডে Response দরকার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HSC, PLS, Timer Events এ Precise Timing দরকার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970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Interrupt Priority (উচ্চ থেকে নিম্ন):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1st: Communication Interrupts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2nd: I/O Interrupt (Rising/Falling Edge)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3rd: Time-based Interrupts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784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Important Rules: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1996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062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INT Routine সংক্ষিপ্ত রাখুন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656539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6428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INT এ CALL, FOR, END, STOP ব্যবহার করা যাবে না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Interrupt Routine যত ছোট তত ভালো — মূল কাজটুকুই শুধু করুন!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Interrupt Event Table — গুরুত্বপূর্ণ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Event #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Event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সাধারণ ব্যবহার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I0.0 Rising Edge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I0.0: 0→1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Emergency Button Press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I0.0 Falling Edge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I0.0: 1→0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Button Release detect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I0.1 Rising Edge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I0.1: 0→1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Encoder Z-pulse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Port 0 Receive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Serial Data Received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Barcode / HMI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Port 0 Transmit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Tx Buffer Empty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Next byte send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Timed Interrupt 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Every N 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PID, Regular sampling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Timed Interrupt 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Every N 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Second PID loop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HSC0 CV=PV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HSC0 Count Match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Position target reached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6898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2384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PLS0 Complete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562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Pulse train done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9254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4740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Stepper motion complete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ATCH, DTCH, ENI, DISI — Interrupt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ATCH (Attach Interrupt):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একটি Event কে একটি INT Routine এর সাথে যুক্ত করে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ATCH INT_0, 0 → Event 0 (I0.0 Rising) → INT_0 চালাবে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DTCH (Detach Interrupt):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Event থেকে INT Routine বিচ্ছিন্ন করে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DTCH 0 → Event 0 এর Interrupt বন্ধ করে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655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ENI (Enable All Interrupts):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867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8496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সব Interrupt চালু করে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Program শুরুতে একবার ENI দিতে হয়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811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DISI (Disable All Interrupts):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10235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9651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সব Interrupt সাময়িক বন্ধ করে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46811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3309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Critical Section এর সময় ব্যবহার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967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Setup Sequence: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621792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60807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Step 1: ATCH INT_0, Event#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658368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64465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Step 2: ENI (Enable করুন)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694944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68122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INT_0 Block এ Response Code লিখুন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ENI ছাড়া ATCH করলেও Interrupt কাজ করবে না — ENI অবশ্যই দিতে হবে!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Emergency Stop with Interrupt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Emergency Button চাপলে সাথে সাথে সব Output বন্ধ হবে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I0.0 = Emergency Stop Button (N.C. — সবসময় Closed)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I0.0 Falling Edge (0→1, Button Press) = Event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Main Program: ATCH INT_0, 1 (Event 1 Attach)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Main Program: ENI (Interrupt Enable করুন)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INT_0 Block এ: MOV_B +0, QB0 (All Output OFF)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INT_0 Block এ: MOV_B +0, QB1 (All Output OFF)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INT_0 Block এ: STOP (CPU Stop করুন)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Test: Normal operation চলার সময় E-Stop চাপুন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16 — Day 26: Interrupt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Interrupt: Scan wait না করে সাথে সাথে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ATCH: Event + INT Routine যুক্ত করে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ENI: সব Interrupt চালু করে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DISI: সব Interrupt সাময়িক বন্ধ করে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INT Routine ছোট রাখুন — শুধু জরুরি কাজ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27 (Module 17):
• Communications শুরু
• PPI Protocol
• NETR ও NETW Instructions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16  |  Day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17 — Communications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27  |  Advanced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27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17  |  Day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S7-200 Communication Ports (Port 0, Port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PPI Protocol — Network Read/Write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NETR ও NETW Instructions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Freeport Mode — Custom Serial Protocol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XMT (Transmit) ও RCV (Receive)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USS Protocol — Variable Speed Drive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Modbus RTU Protocol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548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457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7731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HMI (TD400C) সংযোগ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17  |  Day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S7-200 Communication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17  |  Day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Physical Interface: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RS-485 Serial Port (Port 0 ও Port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9-pin D-sub Connector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Half-duplex, 2-wire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Communication Protocols: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PPI (Point-to-Point Interface) — Siemens proprietary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MPI (Multi-Point Interface) — Multi-device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Freeport — Custom ASCII/Binary protocol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USS — Variable Speed Drive Control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7000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628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Modbus RTU — Industry Standard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286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Baud Rates: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PPI: 9600 বা 19200 bps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Freeport: 1200 ~ 115200 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441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PPI Network: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656539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6428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সর্বোচ্চ 126টি Device একটি Network 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693115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67939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Master-Slave Architecture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S7-200 একই সময়ে Port 0 এ STEP 7-Micro/WIN এবং Port 1 এ HMI connect করা যায়!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17  |  Day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Communication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17  |  Day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কাজ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ব্যবহার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NETR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Network Read — অন্য PLC থেকে Data পড়া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Multi-PLC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NETW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Network Write — অন্য PLC তে Data লেখা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PLC → PLC data share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XMT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Freeport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Serial Data পাঠানো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Printer, Barcode, HMI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RCV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Freeport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Serial Data গ্রহণ করা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Barcode reader, PC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USS_INIT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USS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USS Drive Initialize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VFD setup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USS_CTRL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USS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Drive Speed Control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Motor speed command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USS_RPM_R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USS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Drive Parameter Read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Drive status read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MBUS_INIT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Modbus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Modbus Slave Initialize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HMI, SCADA connect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MBUS_SLAVE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6898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2384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Modbus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562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Modbus Slave Execution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9254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4740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Regular call in main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17  |  Day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Freeport — XMT/RCV ব্যবহার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17  |  Day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Freeport Setup: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SMB30 এ Baud Rate ও Mode Configure করুন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SMB30 = 16#09 → 9600 bps, 8N1, Freeport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XMT (Transmit):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XMT VB100, 0 → Port 0 দিয়ে VB100 এর Buffer পাঠায়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VB100 = Message Length, VB101~ =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Transmit Done → Event 9 Interrupt Fire করে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313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RCV (Receive):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SMB86~SMB94 এ Receive Conditions Configure করুন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RCV VB200, 0 → Port 0 থেকে VB200 তে Data গ্রহণ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Receive Done → Event 8 Interrupt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126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Example: Barcode Scanner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83387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6967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Barcode Scanner → RS-232 → USB/RS-485 Converter → Port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1996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062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RCV দিয়ে Barcode String গ্রহণ করুন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656539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6428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SFND দিয়ে Product Code Match করুন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Freeport দিয়ে যেকোনো RS-232/RS-485 Device এর সাথে S7-200 কে যুক্ত করা যায়!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17  |  Day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17 — Day 27: Communications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PPI: Siemens PLC to PLC — NETR/NETW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Freeport: Custom Serial — XMT/RCV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USS: VFD/Drive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Modbus RTU: Industry standard — HMI/SCADA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Port 0 = PC/Programming, Port 1 = HMI/Device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28 (Module 18):
• Subroutines ও Structured Programming
• Final Projects শুরু
• Traffic Light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17  |  Day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18 — Subroutines &amp; Structured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28  |  Advanced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28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18  |  Day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Subroutine (SBR) কী এবং কেন দরকার?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Local Variable ও Parameter Passing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Structured Programming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Cross Reference ব্যবহার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Status Chart দিয়ে Debug করা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 1: Traffic Light Control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18  |  Day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Subroutine — Modular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18  |  Day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কেন Subroutine?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একই Code বারবার লেখার দরকার নেই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Program কে ছোট ছোট ব্লকে ভাগ করা যায়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Testing সহজ হয়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85292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7157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Code Reuse — Library তৈরি করা যায়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815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S7-200 তে Subroutine: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SBR_0, SBR_1 ... SBR_63 (64টি পর্যন্ত)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CALL SBR_0 দিয়ে Call করা হয়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RET বা CRET দিয়ে Return হয়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Local Variable: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IN: Input Parameter (Caller থেকে দেওয়া)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OUT: Output Parameter (SBR থেকে ফেরত)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IN_OUT: উভয় দিকে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61813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60441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TEMP: Subroutine এর ভেতরে সাময়িক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099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Calling with Parameters: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693115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67939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CALL SBR_0, VW100, VW200 (IN=VW100, OUT=VW200)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Parameter ব্যবহার করে Subroutine আরও Flexible ও Reusable হয়!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18  |  Day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1: Traffic Light Control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18  |  Day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৩টি Signal এর Traffic Light — Green 30s, Yellow 5s, Red 30s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Q0.0=Red, Q0.1=Yellow, Q0.2=Green (Road 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Q0.3=Red, Q0.4=Yellow, Q0.5=Green (Road 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MB10 = Traffic Step (0=Init, 1=A-Green, 2=A-Yellow, 3=B-Green, 4=B-Yellow)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SBR_0: Traffic_Timer Subroutine (IN: PT, OUT: Done Bit)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1 (MB10==1): A-Green ON, B-Red ON → Timer 30s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2 (MB10==2): A-Yellow ON → Timer 5s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3 (MB10==3): B-Green ON, A-Red ON → Timer 30s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4 (MB10==4): B-Yellow ON → Timer 5s → Back to Step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18  |  Day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18 — Day 28: Subroutines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SBR: Reusable code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CALL দিয়ে যেকোনো জায়গা থেকে চালানো যায়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Local Variable দিয়ে Parameter pass করা যায়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Cross Reference: কোন Variable কোথায় আছে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Traffic Light: Step Sequencer + Timer এর সমন্বয়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29:
• Final Projects 2, 3, 4
• Conveyor Sorting System
• Water Level Control
• PID Temperature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18  |  Day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18 — Real-World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29  |  Final Projects Day  |  Duration: 3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29 — Projects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18  |  Day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 2: Conveyor Belt with Product Sorting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 3: Water Level Control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 4: PID Temperature Controller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 5: Batch Process with Recipe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Debugging ও Troubleshooting Techniques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Program Documentation Best Practices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18  |  Day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2: Conveyor Belt with Sorting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18  |  Day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Product Size অনুযায়ী ৩টি Bin এ Sort করা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I0.0=Start, I0.1=Stop, I0.2=Size Sensor (Analog)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Q0.0=Conveyor Motor, Q0.1=Diverter 1, Q0.2=Diverter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AIW0 = Product Size (0=Small, 1000=Medium, 2000=Large)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I0.0/I0.1 → Start-Stop Motor (Q0.0)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&lt;I AIW0,+1000 → Q0.1 (Bin 1 — Small)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&gt;=I AIW0,+1000 AND &lt;I AIW0,+2000 → Q0.2 (Bin 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4: &gt;=I AIW0,+2000 → Q0.1+Q0.2 (Bin 3 — Large)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SHRB I0.3, M0.0, 8 (Conveyor position tracking)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18  |  Day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3: Water Level Control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18  |  Day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Tank এর Water Level Low/High অনুযায়ী Pump নিয়ন্ত্রণ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AIW0 = Level Sensor (0=Empty, 32000=Full)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I0.0=High Level Float Switch, I0.1=Low Level Float Switch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Q0.0=Inlet Pump, Q0.1=Outlet Valve, Q0.2=Alarm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&lt;=I AIW0,+6400 → S Q0.0 (Level &lt;20%, Pump 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&gt;=I AIW0,+28800 → R Q0.0 (Level &gt;90%, Pump OFF)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&gt;=I AIW0,+30000 → Q0.2 (Overflow Alarm)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4: I0.0 N.C. → S Q0.1 (Float: Not High → Outlet open)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Hysteresis দিয়ে Pump Chattering এড়ানো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18  |  Day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4: PID Temperature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18  |  Day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Oven Temperature 180°C তে PID দিয়ে সঠিকভাবে Control করা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AIW0 = Thermocouple Input (0~32000 = 0°C~300°C)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AQW0 = Heater SSR Output (0~32000 = 0~100% Power)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Timed Interrupt (Event 10): Every 100ms → PID 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INT_0: AIW0 কে 0.0~1.0 তে Scale → VD0 (PV)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INT_0: VD4 = 0.60 (SP = 180/300 = 0.60)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INT_0: PID 0, VD0 (KC=2.5, TI=3.0, TD=0.05)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INT_0: VD8 × 32000.0 → AQW0 (Output Scale)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Tuning: Monitor PV Response → Adjust KC, TI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18  |  Day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18 — Day 29: Real-World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Conveyor Sorting: Compare + SHRB +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Water Level: Compare + Set/Reset + Hysteresis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PID Controller: Interrupt + Analog + PID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Debugging: Status Chart সবচেয়ে গুরুত্বপূর্ণ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Symbol Table ব্যবহার করলে Code পড়া সহজ হয়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30 (Final Day):
• Project 5, 6 — Final Assembly Line
• Course Summary
• Certification Assessment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18  |  Day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Day 30 — Course Completion &amp;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Final Day  |  All Modules Completed  |  Duration: 3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30 — Final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Day 30  |  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 5: Batch Process with Recipe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 6: Multi-Station Assembly Line (Capstone)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Full Course Summary — 18 Modules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Career Path ও Industry Certification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Final Assessment / Quiz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Congratulations &amp; Certificate!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Day 30  |  Final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5: Batch Process with Recipe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Day 30  |  Final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3টি Recipe থেকে নির্বাচন করে Batch Process চালানো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VB100~VB109 = Recipe 1 (Speed, Temp, Time, Qty...)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VB110~VB119 = Recipe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VB120~VB129 = Recipe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IB0 = Recipe Selector Switch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BLKMOV দিয়ে Active Recipe লোড করুন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Math Instruction দিয়ে Analog Output Scale করুন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Sequencer দিয়ে Process চালান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Counter দিয়ে Batch Quantity গণুন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Day 30  |  Final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Complete Course Summary — 18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Day 30  |  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Topic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Key Instructions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PLC Basics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Hardware, Scan Cycle,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1-2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STEP 7 Software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LAD Editor, Download, Monitor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 Logic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Contacts, Coils, SR, 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4-6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Timers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TON, TONR, TOF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Counters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CTU, CTD, CTUD, HSC, PLS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8-9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Compare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==I, &gt;I, &lt;I, ==R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MOV, BLKMOV, SWAP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Integer Math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ADD, SUB, MUL, DIV, INC, DEC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6898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2384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Float Math + PID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562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ADD_R, SQRT, SIN, PID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9254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4740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15-16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6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6898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2384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Convert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8076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3562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BCD, ROUND, SEG, ITA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9254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4740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18-19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206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6898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32384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Logical Ops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8076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AND, OR, XOR, INV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89254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4740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61722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12064" y="62087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268980" y="61722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23844" y="62087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Shift/Rotate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80760" y="61722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35624" y="62087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SHL, SHR, ROL, ROR, SHRB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892540" y="61722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47404" y="62087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65836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12064" y="66202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68980" y="65836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323844" y="66202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String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080760" y="65836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135624" y="66202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SCPY, SCAT, SFND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92540" y="65836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947404" y="66202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9951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12064" y="70317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268980" y="69951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323844" y="70317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Table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080760" y="69951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135624" y="70317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ATT, FIFO, LIFO, FND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892540" y="69951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47404" y="70317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57200" y="74066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12064" y="74432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268980" y="74066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323844" y="74432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Program Control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080760" y="74066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135624" y="74432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JMP, FOR, CALL, WDR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892540" y="74066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947404" y="74432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7200" y="78181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12064" y="78546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68980" y="78181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23844" y="78546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Interrupt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080760" y="78181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135624" y="78546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ATCH, ENI, DISI, CRETI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92540" y="78181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947404" y="78546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26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7200" y="82296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12064" y="82661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17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268980" y="82296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323844" y="82661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Communications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080760" y="82296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135624" y="82661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NETR, NETW, XMT, RCV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892540" y="82296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947404" y="82661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27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57200" y="86410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12064" y="86776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268980" y="86410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323844" y="86776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Projects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080760" y="86410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135624" y="86776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All Instructions Combined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892540" y="86410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947404" y="86776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28-30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Day 30  |  Final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CC00"/>
                </a:solidFill>
                <a:latin typeface="Calibri"/>
              </a:rPr>
              <a:t>🎓 Congratulations!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920240"/>
            <a:ext cx="8229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আপনি Siemens S7-200 PLC Programming Course সম্পন্ন করেছেন!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99A1"/>
                </a:solidFill>
                <a:latin typeface="Calibri"/>
              </a:rPr>
              <a:t>18 Modules  |  30 Days  |  60+ Hours of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66160"/>
            <a:ext cx="9144000" cy="2103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CC00"/>
                </a:solidFill>
                <a:latin typeface="Calibri"/>
              </a:rPr>
              <a:t>✅  You can now: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605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▸  Design ও Program করতে পারবেন যেকোনো Industrial Automation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6285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▸  Bit Logic, Timer, Counter, Math, PID — সব ব্যবহার করতে পারবেন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9651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▸  HMI, VFD, Modbus Device এর সাথে Communication করতে পারবেন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  |  30 Days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