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0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10 — Convert Instructions (Part 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18  |  Upper-Intermediate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18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10  |  Day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Convert Instruction কেন দরকার?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B_I, I_B — Byte ↔ Integer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I_DI, DI_I — Integer ↔ Double Integer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DI_R, I_S — Integer/DInt → Real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BCD_I, I_BCD — BCD ↔ Integer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ROUND ও TRUNC — Real → Integer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Hands-on: Data Type Conversion Chain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10  |  Day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Convert Instructions — কেন দরকার?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10  |  Day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Problem: Different Instructions চান Different Data Types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ADD_I চায় INT + 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ADD_R চায় REAL + REAL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48716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235000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MOV_B চায় BYTE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285292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27157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এক ধরনের Data অন্য ধরনে Convert না করলে Error হবে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815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Example Scenario: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AIW0 = Integer (Raw Analog Value)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PID চায় REAL (0.0 ~ 1.0)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34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97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Steps: AIW0 (INT) → I_DI → DINT → DI_R → REAL → ÷ 32000.0 → PID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56285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BCD কেন দরকার?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Thumb Wheel Switch, 7-Segment Display BCD দেয়/নেয়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5840" y="544982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531266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BCD = Binary Coded Decimal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8155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78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প্রতিটি Decimal Digit আলাদা 4 Bit এ থাকে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5840" y="61813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60441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Example: 59 decimal = 0101 1001 BCD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Convert Instructions না জানলে Analog, HMI বা Serial Communication ঠিকমতো করা যাবে না!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10  |  Day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Convert Instructions — 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10  |  Day 18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B_I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 (0~255)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 → 16-bit Integer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I_B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Low byte only (0~255)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I_DI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 (-32768~+32767)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Sign extend to 32-bit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DI_I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384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740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Truncate to 16-bit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DI_R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898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384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254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740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32-bit Int → Float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I_S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898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384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254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740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Direct Int → Float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BCD_I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6898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2384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BCD Word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3562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9254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4740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Thumb wheel → Integer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I_BCD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6898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2384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 (0~9999)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562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BCD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9254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740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Integer → 7-Seg Display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ROUND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6898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2384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076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3562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9254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4740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ঘুরিয়ে Integer (4.7→5)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206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TRUNC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6898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2384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8076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3562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89254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4740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কেটে Integer (4.7→4)</a:t>
            </a:r>
          </a:p>
        </p:txBody>
      </p:sp>
      <p:sp>
        <p:nvSpPr>
          <p:cNvPr id="95" name="Rectangle 9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10  |  Day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10 — Day 18: Convert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B_I/I_B: Byte ↔ Integer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I_DI/DI_I: Integer ↔ Double Integer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DI_R: Double Int → Real (PID এর আগে)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BCD_I/I_BCD: BCD ↔ Integer (7-Segment)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ROUND vs TRUNC: 4.7→5 vs 4.7→4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19:
• Convert Part 2
• ASCII, HEX Conversion
• DECO, ENCO, SEG Instructions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10  |  Day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00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10 — Convert Instructions (Part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19  |  Upper-Intermediate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19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10  |  Day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ITA, DTA, RTA — Number → ASCII String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ATH, HTA — ASCII ↔ Hexadecimal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S_I, S_DI, S_R — String → Number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DECO — Decode (1-of-16)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ENCO — Encode (16-of-1)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SEG — Seven Segment Decode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Practical: 7-Segment Display Controller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10  |  Day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Convert Instructions — Part 2 (ASCII &amp; SEG)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10  |  Day 19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470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From → 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234440"/>
            <a:ext cx="281178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38260" y="1280160"/>
            <a:ext cx="27203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ব্যবহার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ITA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384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 → ASCII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3562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ASCII String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16459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47404" y="16824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Number কে Text এ Serial Send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2384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 → ASCII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3562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ASCII String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05740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47404" y="20939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32-bit number display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RTA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2384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 → ASCII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3562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ASCII String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46888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47404" y="25054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Float number to HMI text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ATH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32384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ASCII → HEX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3562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Hex String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288036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47404" y="29169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Serial input parsing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HTA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26898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2384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HEX → ASCII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8076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3562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ASCII String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892540" y="329184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947404" y="33284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Hex value display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S_I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6898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2384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String → INT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08076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3562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892540" y="370332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947404" y="37398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Keyboard/HMI input parse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S_DI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6898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32384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String → DINT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08076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13562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892540" y="411480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947404" y="415137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Large number input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720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206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S_R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26898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32384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String → REAL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8076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3562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REAL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892540" y="452628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947404" y="456285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Float input from HMI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DECO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6898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32384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Bit position → Word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08076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13562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WORD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892540" y="493776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947404" y="497433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Step → Output bit select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206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ENCO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6898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32384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Word → Bit pos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08076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613562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892540" y="5349240"/>
            <a:ext cx="28117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947404" y="538581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Find highest set bit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57200" y="57607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12064" y="57972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SEG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268980" y="57607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3323844" y="57972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Digit → Segments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080760" y="57607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135624" y="57972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BYTE (7-seg)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8892540" y="5760720"/>
            <a:ext cx="281178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947404" y="5797296"/>
            <a:ext cx="27203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7-Segment LED display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10  |  Day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SEG — Seven Segment Display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10  |  Day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কাজ: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0~9 Digit Input → 7-Segment Pattern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Output Byte এর প্রতিটি Bit একটি Segment কে ON/OFF করে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Segment Mapping (a~g):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Bit 0 = Segment a (top)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Bit 1 = Segment b (top-right)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Bit 2 = Segment c (bottom-right)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05840" y="396849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8313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Bit 3 = Segment d (bottom)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33425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419709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Bit 4 = Segment e (bottom-left)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05840" y="47000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88720" y="45628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Bit 5 = Segment f (top-left)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05840" y="50657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Bit 6 = Segment g (middle)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529437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Example: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" y="581558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567842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SEG +5, QB0 → QB0 = 2#01101101 (displays '5')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4418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Multi-digit Display: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5840" y="656539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642823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প্রতিটি Digit আলাদা SEG Instruction দিয়ে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SEG Instruction দিয়ে সরাসরি 7-Segment LED কে Q Output এ connect করা যায়!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10  |  Day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Practical: 7-Segment Counter Display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10  |  Day 19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Counter value কে 7-Segment Display এ দেখানো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CTU C0 দিয়ে 0~9 গণনা করুন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MOV_W C0, VW10 (Counter value copy)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I_B VW10, VB20 (Integer to Byte)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SEG VB20, QB0 (Byte to 7-Segment pattern)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Q0.0~Q0.6 → 7-Segment Display a~g Segments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C0 Bit → Reset C0 (0 থেকে আবার শুরু হবে 10 হলে)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Hardware: Common Cathode 7-Segment LED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10  |  Day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10 — Day 19: Convert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ITA/DTA/RTA: Number → ASCII (Serial/HMI এর জন্য)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ATH/HTA: ASCII ↔ HEX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DECO: একটি Bit position → একটি Bit ON করে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ENCO: কোন Bit ON আছে তা বের করে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SEG: Digit → 7-Segment pattern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20 (Module 11):
• Logical Operations
• AND, OR, XOR, INV
• Bit Masking Technique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10  |  Day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D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11 — Logical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20  |  Upper-Intermediate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20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11  |  Day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Logical Operations কী? Bit-wise ধারণা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WAND_B/W/DW — AND Operation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WOR_B/W/DW — OR Operation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WXOR_B/W/DW — XOR Operation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INV_B/W/DW — Invert (NOT)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Bit Masking Technique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Practical: Status Byte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11  |  Day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Logical Operations — Bit-wise কাজ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11  |  Day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সাধারণ Contact Logic vs Logical Instruction: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Contact Logic: পুরো Bit (0 বা 1) নিয়ে কাজ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Logical Instruction: Byte/Word এর প্রতিটি Bit আলাদাভাবে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AND (WAND):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উভয় Input Bit = 1 হলেই Output = 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Mask দিয়ে নির্দিষ্ট Bit বের করতে ব্যবহার হয়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Example: VB10 AND 16#0F → শুধু Lower Nibble রাখে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313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OR (WOR):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525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যেকোনো একটি Bit = 1 হলে Output =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183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Bit Force করতে ব্যবহার হয়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Example: VB10 OR 16#80 → MSB কে Force 1 করে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126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XOR (WXOR):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83387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6967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একটি Bit 1, অন্যটি 0 হলে Output = 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61996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062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Bit Toggle করতে ব্যবহার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2823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INV (Invert):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694944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681228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সব Bit উল্টায় (0→1, 1→0)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05840" y="7315200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88720" y="7178040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1's Complement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Bit Masking হল Logical Operations এর সবচেয়ে গুরুত্বপূর্ণ application!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11  |  Day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Logical Operations — Truth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11  |  Day 20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Operation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6624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52344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IN1 Bit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6048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1768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IN2 Bit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5472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51192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Output Bit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54896" y="1234440"/>
            <a:ext cx="2249424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0616" y="1280160"/>
            <a:ext cx="215798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Example Use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AND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06624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61488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10912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5472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60336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54896" y="16459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6824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Mask unwanted bits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6624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61488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6048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0912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5472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60336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54896" y="205740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09760" y="20939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Keep only masked bits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06624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61488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6048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0912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5472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60336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54896" y="246888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0" y="25054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Clear specific bits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2064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AND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06624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761488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56048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10912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05472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60336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54896" y="288036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60" y="29169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Filter status byte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2064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OR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06624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61488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56048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10912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05472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260336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54896" y="329184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509760" y="33284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Set specific bits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2064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OR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06624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761488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10912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05472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260336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54896" y="370332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509760" y="37398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Force bit to 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2064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OR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06624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61488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956048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10912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05472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260336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454896" y="411480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509760" y="415137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Combine two bytes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2064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OR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06624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61488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56048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010912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05472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260336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454896" y="452628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509760" y="456285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Merge status flags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12064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XOR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706624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761488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956048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5010912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205472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260336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454896" y="493776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509760" y="497433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Toggle specific bits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57200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12064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XOR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706624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761488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956048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010912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7205472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260336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454896" y="5349240"/>
            <a:ext cx="2249424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09760" y="538581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Flip selected bits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457200" y="57607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12064" y="57972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XOR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706624" y="57607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761488" y="57972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4956048" y="57607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5010912" y="57972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205472" y="57607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60336" y="57972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0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454896" y="5760720"/>
            <a:ext cx="2249424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9509760" y="5797296"/>
            <a:ext cx="2157984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Check byte equality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11  |  Day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11 — Day 20: Logical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AND: দুটি Bit উভয়ই 1 হলে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OR: যেকোনো একটি 1 হলে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XOR: শুধু একটি 1 হলে 1 (Toggle)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INV: সব Bit উল্টে দেয়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Masking: AND দিয়ে নির্দিষ্ট Bit বের করা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21 (Module 12):
• Shift ও Rotate Instructions
• SHL, SHR, ROL, ROR
• Running Light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11  |  Day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D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Siemens S7-200 PLC Programming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651760"/>
            <a:ext cx="3657600" cy="54864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CC00"/>
                </a:solidFill>
                <a:latin typeface="Calibri"/>
              </a:rPr>
              <a:t>Module 12 — Shift &amp; Rotate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DDFF"/>
                </a:solidFill>
                <a:latin typeface="Calibri"/>
              </a:rPr>
              <a:t>Day 21  |  Upper-Intermediate  |  Duration: 2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32764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63276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47487"/>
                </a:solidFill>
                <a:latin typeface="Calibri"/>
              </a:rPr>
              <a:t>© S7-200 PLC Course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5156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21 —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12  |  Day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344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2252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527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Shift ও Rotate — পার্থক্য কী?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7373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7282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7556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SHL_B/W/DW — Shift Left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4028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23113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25856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SHR_B/W/DW — Shift Right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73405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76148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ROL_B/W/DW — Rotate Left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24612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23697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26440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ROR_B/W/DW — Rotate Right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4904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3989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76732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SHRB — Shift Register Bit (Sequencer)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84048" cy="384048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42816"/>
            <a:ext cx="38404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270248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2E"/>
                </a:solidFill>
                <a:latin typeface="Calibri"/>
              </a:rPr>
              <a:t>Practical: Running Light / Knight Rider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12  |  Day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Shift vs Rotate — পার্থক্য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12  |  Day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530352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Shift (SHL / SHR)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801368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916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Bits একদিকে সরে যায়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203704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0939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বাইরে যাওয়া Bit হারিয়ে যায়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606040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2496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SHL: ফাঁকা Bit = 0 দিয়ে পূরণ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08376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SHR: ফাঁকা Bit = 0 দিয়ে পূরণ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410712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300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SHL N = × 2ᴺ (গুণ)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13048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3703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SHR N = ÷ 2ᴺ (ভাগ)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215384"/>
            <a:ext cx="91440" cy="91440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105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Power of 2 calculation এ ব্যবহার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1188720"/>
            <a:ext cx="5303520" cy="41148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1207008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Rotate (ROL / ROR)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801368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16916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Bits একদিকে সরে যায়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203704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209397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বাইরে যাওয়া Bit অন্যদিক থেকে ঢোকে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606040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1968" y="24963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ROL: বাম থেকে বের → ডানে প্রবেশ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008376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289864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ROR: ডান থেকে বের → বামে প্রবেশ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3410712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1968" y="3300984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Bit Pattern টি Rotate হয়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813048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01968" y="37033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Running Light এ ব্যবহার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0" y="4215384"/>
            <a:ext cx="91440" cy="914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105656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1A2E"/>
                </a:solidFill>
                <a:latin typeface="Calibri"/>
              </a:rPr>
              <a:t>Conveyor Sequence Control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12  |  Day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SHRB — Shift Register Bit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12  |  Day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কাজ: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75564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এক Bit কে একটি Bit Array তে Shift করে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05840" y="2121408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198424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FIFO Buffer হিসেবে কাজ করে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3500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Parameters: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" y="287121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273405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DATA: Shift হওয়া Bit এর মান (0 বা 1)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05840" y="323697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309981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S_BIT: Shift Register এর শুরুর Bit Address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" y="3602736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3465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N: Register এর Length (Positive = Left, Negative = Right)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831336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Example (Conveyor Tracking):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35254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8720" y="421538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Conveyor এ Product আছে কিনা Track করা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05840" y="471830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58114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প্রতিটি Sensor Position থেকে পরের Position এ Bit Shift হয়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5084064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946904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N = 8 মানে 8টি Position Track করা যাবে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12664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Application: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05840" y="583387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69671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Paint/Welding Station — কোন Position এ Product আছে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" y="6199632"/>
            <a:ext cx="73152" cy="73152"/>
          </a:xfrm>
          <a:prstGeom prst="rect">
            <a:avLst/>
          </a:prstGeom>
          <a:solidFill>
            <a:srgbClr val="009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6062472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7"/>
                </a:solidFill>
                <a:latin typeface="Calibri"/>
              </a:rPr>
              <a:t>Product Tracking on Conveyor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943600"/>
            <a:ext cx="11247120" cy="50292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9618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295C"/>
                </a:solidFill>
                <a:latin typeface="Calibri"/>
              </a:rPr>
              <a:t>💡 SHRB হল Conveyor Product Tracking এর সবচেয়ে elegant solution!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12  |  Day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5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A850"/>
                </a:solidFill>
                <a:latin typeface="Calibri"/>
              </a:rPr>
              <a:t>⚙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47472"/>
            <a:ext cx="10515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Practical: Running Light (Knight Rider Effect)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12  |  Day 21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234440"/>
            <a:ext cx="11247120" cy="594360"/>
          </a:xfrm>
          <a:prstGeom prst="rect">
            <a:avLst/>
          </a:prstGeom>
          <a:solidFill>
            <a:srgbClr val="008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🎯  Objective: Q0.0 থেকে Q0.7 পর্যন্ত আলো ক্রমানুসারে জ্বলবে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9659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" y="1965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65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MB0 = 8-bit Shift Register (QB0 তে connect)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231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423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423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1: SM0.0 (Always ON) → MOV_B +1, MB0 (Initialize)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8803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8803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880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2: T37 (0.2s Timer) → ROL_B MB0, 1 (Rotate Left)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3375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33375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337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Network 3: MOV_B MB0, QB0 (Output এ দেখান)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7947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" y="37947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794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Timer T37: PT=+2 (200ms interval)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251960"/>
            <a:ext cx="347472" cy="347472"/>
          </a:xfrm>
          <a:prstGeom prst="rect">
            <a:avLst/>
          </a:prstGeom>
          <a:solidFill>
            <a:srgbClr val="007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42519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2519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Result: প্রতি 200ms এ একটি Light পরেরটিতে যাবে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709160"/>
            <a:ext cx="347472" cy="347472"/>
          </a:xfrm>
          <a:prstGeom prst="rect">
            <a:avLst/>
          </a:prstGeom>
          <a:solidFill>
            <a:srgbClr val="00A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2064" y="470916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7091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A1A2E"/>
                </a:solidFill>
                <a:latin typeface="Calibri"/>
              </a:rPr>
              <a:t>Extension: Reverse করতে ROR_B ব্যবহার করুন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12  |  Day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2188952" cy="10972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82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Module 10, 11, 12 — সমস্ত Instructions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274320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>
                <a:solidFill>
                  <a:srgbClr val="FFCC00"/>
                </a:solidFill>
                <a:latin typeface="Calibri"/>
              </a:rPr>
              <a:t>Module 12  |  Day 21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Instructions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234440"/>
            <a:ext cx="3749040" cy="41148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Key Application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 Convert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110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B_I, I_DI, DI_R, I_B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16459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16824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Data type chain conversion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 Convert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6110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BCD_I, I_BCD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0574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0144" y="20939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7-Segment, Thumb Wheel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206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 Convert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6110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ROUND, TRUNC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246888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10144" y="25054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Float to Integer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 Convert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6110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ITA, RTA, ATH, HTA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288036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10144" y="29169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Serial/HMI communication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1206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10 Convert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6110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SEG, DECO, ENCO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329184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10144" y="33284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Display ও bit decoding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70332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" y="37398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11 Logic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70332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61104" y="37398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WAND_B/W/DW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0" y="370332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010144" y="37398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Bit masking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1480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" y="41513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11 Logic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411480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61104" y="41513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WOR_B/W/DW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80" y="411480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10144" y="41513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Bit setting/combining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52628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12064" y="45628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11 Logic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452628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61104" y="45628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WXOR_B/W/DW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452628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10144" y="456285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Bit toggling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93776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064" y="49743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11 Logic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493776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61104" y="49743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INV_B/W/DW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5280" y="493776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010144" y="497433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Bit inversion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34924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2064" y="53858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12 Shift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534924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61104" y="53858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SHL/SHR B/W/DW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80" y="534924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10144" y="538581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Multiply/divide by power of 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7607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512064" y="57972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12 Shift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06240" y="57607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261104" y="57972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ROL/ROR B/W/DW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55280" y="5760720"/>
            <a:ext cx="3749040" cy="411480"/>
          </a:xfrm>
          <a:prstGeom prst="rect">
            <a:avLst/>
          </a:prstGeom>
          <a:solidFill>
            <a:srgbClr val="F0F4F8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010144" y="579729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Running light, sequence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57200" y="61722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" y="62087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12 Shift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06240" y="61722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61104" y="62087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SHRB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955280" y="6172200"/>
            <a:ext cx="37490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010144" y="6208776"/>
            <a:ext cx="365760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A1A2E"/>
                </a:solidFill>
                <a:latin typeface="Calibri"/>
              </a:rPr>
              <a:t>Conveyor product tracking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12  |  Day 21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9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CC00"/>
                </a:solidFill>
                <a:latin typeface="Calibri"/>
              </a:rPr>
              <a:t>📋  Session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99A1"/>
                </a:solidFill>
                <a:latin typeface="Calibri"/>
              </a:rPr>
              <a:t>Module 10-12 — Convert, Logic, Shift: Complete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6949440" cy="4389120"/>
          </a:xfrm>
          <a:prstGeom prst="rect">
            <a:avLst/>
          </a:prstGeom>
          <a:solidFill>
            <a:srgbClr val="001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583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9A1"/>
                </a:solidFill>
                <a:latin typeface="Calibri"/>
              </a:rPr>
              <a:t>✅  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Convert: Data Type পরিবর্তন করতে অপরিহার্য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96896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AND/OR/XOR: Bit-level manipulation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99232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SHL/SHR: ×2 বা ÷2 দ্রুত করে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401568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ROL/ROR: Circular shift — Running Light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03904"/>
            <a:ext cx="6492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▸  SHRB: Conveyor Product Tracking FIFO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645920"/>
            <a:ext cx="4023360" cy="4389120"/>
          </a:xfrm>
          <a:prstGeom prst="rect">
            <a:avLst/>
          </a:prstGeom>
          <a:solidFill>
            <a:srgbClr val="004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6916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CC00"/>
                </a:solidFill>
                <a:latin typeface="Calibri"/>
              </a:rPr>
              <a:t>⏭  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2240280"/>
            <a:ext cx="3657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Day 22 (Module 13):
• String Instructions শুরু
• SLEN, SCAT, SCPY
• HMI Message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56248"/>
            <a:ext cx="5486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99A1"/>
                </a:solidFill>
                <a:latin typeface="Calibri"/>
              </a:rPr>
              <a:t>Siemens S7-200 PLC Programming  |  STEP 7-Micro/WIN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5624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CC00"/>
                </a:solidFill>
                <a:latin typeface="Calibri"/>
              </a:rPr>
              <a:t>Module 12  |  Day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