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21945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262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4400">
                <a:solidFill>
                  <a:srgbClr val="FFFFFF"/>
                </a:solidFill>
              </a:rPr>
              <a:t>Delta VFD-M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600">
                <a:solidFill>
                  <a:srgbClr val="CCDDFF"/>
                </a:solidFill>
              </a:rPr>
              <a:t>Variable Frequency Drive (VFD)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200">
                <a:solidFill>
                  <a:srgbClr val="FF6B00"/>
                </a:solidFill>
              </a:rPr>
              <a:t>Complete Industrial Training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16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600">
                <a:solidFill>
                  <a:srgbClr val="AACCFF"/>
                </a:solidFill>
              </a:rPr>
              <a:t>Sensorless Vector Control Micro Drive  |  AC Motor Speed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FFFFFF"/>
                </a:solidFill>
              </a:rPr>
              <a:t>Instructor: ________________________     Date: 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486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99BBFF"/>
                </a:solidFill>
              </a:rPr>
              <a:t>Delta Electronics  |  VFD Training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Course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Delta VFD-M Series — Complete Training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508760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5636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636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Introduction to Variable Frequency Drives (VFD)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258568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" y="2313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313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Delta VFD-M Series — Overview &amp; Specifications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008376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63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Safety Guidelines &amp; Precautions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3758183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" y="381304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13047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Mechanical Installation &amp; Mounting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507992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456285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562855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Electrical Wiring — Power &amp; Control Terminals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5257800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5312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3126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Digital Keypad Operation &amp; Display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508760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156362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5636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Parameter Programming (P00 – P09 Groups)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258568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63056" y="231343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31343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Control Modes &amp; Speed Reference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008376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63056" y="3063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063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Motor Auto-Tuning &amp; Performance Optimization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758183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63056" y="381304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13047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Protective Functions &amp; Fault Diagnosis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4507992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4562855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62855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Industrial Application Examples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5257800"/>
            <a:ext cx="57607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3056" y="531266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Module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31266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2D2D2D"/>
                </a:solidFill>
              </a:rPr>
              <a:t>Maintenance, Troubleshooting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01 — Introduction to Variable Frequency Drives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What is a VFD? Why do we use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What is a VFD?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 VFD (Variable Frequency Drive) is an electronic device that controls the speed of an AC induction motor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It varies the frequency &amp; voltage supplied to the motor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Also known as: Inverter, AC Drive, Frequency Converter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Works on V/F (Volts per Hertz) or Sensorless Vector principle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Input: Fixed AC supply (50/60 Hz)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Output: Variable frequency &amp; variable voltage to motor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Why Use a VFD?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Precise motor speed control (0 – max RPM)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Soft start / soft stop → reduces mechanical stress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Energy saving: up to 50% electricity savings on fans &amp; pumps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Reduces inrush current at startup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Overload &amp; short-circuit protection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Forward / Reverse control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Multiple speed presets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Smooth acceleration &amp; deceleration ramps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01 — VFD Working Principle &amp;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How AC drives work internally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11795760" cy="105156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VFD Internal Power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576304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AC Mains → Rectifier (AC→DC) → DC Bus (Capacitor Bank) → IGBT Inverter (DC→Variable AC) → Motor
PWM (Pulse Width Modulation) used to synthesise variable frequency output
Carrier frequency: typically 2 kHz – 15 kHz (P03.00 in VFD-M)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633472"/>
            <a:ext cx="5577840" cy="20116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706624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Control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90672"/>
            <a:ext cx="535838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V/F Control: Maintains constant V/Hz ratio — simple, good for fans/pumps
Sensorless Vector Control (SVC): Estimates rotor flux without encoder — high torque at low speed
Delta VFD-M uses SVC as default — superior low-speed torque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633472"/>
            <a:ext cx="5943600" cy="20116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706624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Common VFD Applications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090672"/>
            <a:ext cx="57241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Pumps &amp; Water Treatment Plants
HVAC Fans &amp; Air Compressors
Conveyor Belts &amp; Material Handling
CNC Routers, Lathes &amp; Milling Machines
Treadmills &amp; Fitness Equipment
Textile &amp; Packaging Machines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4754880"/>
            <a:ext cx="11795760" cy="17830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2803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Key Terminology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212080"/>
            <a:ext cx="1157630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Frequency (Hz) ↔ Motor Speed (RPM): N = (120 × f) / P
Base Frequency: rated frequency of motor (50 Hz)
Max Output Frequency: can exceed base (field weakening zone)
Acceleration Time: time to ramp from 0 → max speed
Deceleration Time: time to ramp from max speed →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02 — Delta VFD-M Series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Product family, model code, and key specifications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5577840" cy="13716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Product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5358383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Manufacturer: Delta Electronics, Inc. (Taiwan)
Series: VFD-M — General Purpose Sensorless Vector Micro Drive
Technology: Latest microprocessor + IGBT switching
Standard: CE, UL, cUL certified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63040"/>
            <a:ext cx="5943600" cy="13716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536192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Model Code Breakdown  e.g. VFD007M21A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920240"/>
            <a:ext cx="5724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VFD   = Variable Frequency Drive product family
007   = 0.75 kW (007 = 0.75kW, 015=1.5kW, 022=2.2kW, 037=3.7kW…)
M     = M Series
2     = Voltage class: 1=115V, 2=230V, 4=460V
1     = Phase: 1=Single phase, 3=Three phase
A     = Version / Enclosure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2944368"/>
            <a:ext cx="5577840" cy="18288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01752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Power &amp; Voltage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01568"/>
            <a:ext cx="535838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115V Series:  0.2 kW – 0.75 kW  (0.25 – 1 HP)
230V 1-Phase: 0.4 kW – 2.2 kW   (0.5 – 3 HP)
230V 3-Phase: 0.4 kW – 5.5 kW   (0.5 – 7.5 HP)
460V 3-Phase: 0.75 kW – 5.5 kW  (1 – 7.5 HP)
575V 3-Phase: 0.75 kW – 7.5 kW  (1 – 10 HP)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944368"/>
            <a:ext cx="5943600" cy="18288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3017520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Electrical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401568"/>
            <a:ext cx="57241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Output Frequency: 0.1 – 400 Hz
Carrier Frequency: 1 – 15 kHz (adjustable)
Frequency Accuracy: ±0.01 Hz (digital ref)
Overload Capacity: 150% rated current for 60 s
Protection: IP20 / NEMA 1
Operating Temp: -10°C to +40°C (non-condensing)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864608"/>
            <a:ext cx="11795760" cy="164592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937760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Key Features at a Glance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21808"/>
            <a:ext cx="1157630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Sensorless vector control for high torque at low speed  |  Built-in PID controller
RS-485 Modbus RTU communication  |  Analog input: 0–10V / 4–20mA
Multi-speed presets (up to 15 speeds)  |  Skip frequency bands
DC braking  |  Dynamic braking resistor support  |  Auto-restart after 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02 — External Components &amp; Accessories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Parts of the VFD-M unit and optional accessories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External Parts of VFD-M Unit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Digital Keypad (KPV-CE01) — display &amp; programming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Power Terminal Block: R, S, T (Input); U, V, W (Output); B1, B2 (Braking)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Control Terminal Block: Analog &amp; Digital I/O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Grounding Terminal (PE)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Cooling Fan (on larger models)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DIN Rail / Panel Mount Bracket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Communication Port (RJ-45)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Charge Indicator 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Optional Accessories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Remote Keypad Extension Cable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Dynamic Braking Resistor (for fast decel)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EMI / RFI Filter (for CE compliance)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AC Line Reactor (input harmonic reduction)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DC Bus Reactor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Zero-Phase Reactor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to USB Converter for PC programming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Delta WPLSoft / DIADesigner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03 — Safety Guidelines &amp; Precautions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DANGER / WARNING / CAUTION — Read before installation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11795760" cy="1234440"/>
          </a:xfrm>
          <a:prstGeom prst="rect">
            <a:avLst/>
          </a:prstGeom>
          <a:solidFill>
            <a:srgbClr val="FFEEEE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CC0000"/>
                </a:solidFill>
              </a:rPr>
              <a:t>⚠ DANGER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74519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800000"/>
                </a:solidFill>
              </a:rPr>
              <a:t>• ALWAYS disconnect AC mains before wiring  • Wait 10 minutes after power-off for capacitors to discharge  • Never open the drive while power is ON  • High voltage present on R/S/T and U/V/W terminals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816352"/>
            <a:ext cx="11795760" cy="1143000"/>
          </a:xfrm>
          <a:prstGeom prst="rect">
            <a:avLst/>
          </a:prstGeom>
          <a:solidFill>
            <a:srgbClr val="FFF5E6"/>
          </a:solidFill>
          <a:ln w="1905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8620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FF6B00"/>
                </a:solidFill>
              </a:rPr>
              <a:t>⚠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804000"/>
                </a:solidFill>
              </a:rPr>
              <a:t>• Do NOT connect AC power to U/V/W motor terminals  • Ground the drive properly (PE terminal)  • Never touch internal components or PCB  • Motor cable must be shielded for EMI reduction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4069080"/>
            <a:ext cx="11795760" cy="1143000"/>
          </a:xfrm>
          <a:prstGeom prst="rect">
            <a:avLst/>
          </a:prstGeom>
          <a:solidFill>
            <a:srgbClr val="E8F0FF"/>
          </a:solidFill>
          <a:ln w="1905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>
                <a:solidFill>
                  <a:srgbClr val="0047AB"/>
                </a:solidFill>
              </a:rPr>
              <a:t>ℹ CAUTION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4531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0047AB"/>
                </a:solidFill>
              </a:rPr>
              <a:t>• Only qualified personnel should install, wire, and program the drive  • Do not install near heat sources or in high-humidity environments  • Ensure adequate ventilation — minimum clearance 10 cm on all sides  • Use copper conductors only; tighten all terminals to specified torque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5321808"/>
            <a:ext cx="11795760" cy="13258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394960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PPE &amp; Tools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79008"/>
            <a:ext cx="115763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Personal Protective Equipment: Insulated gloves, safety glasses, voltage tester
Tools: Insulated screwdrivers, torque wrench, multimeter, clamp meter
Lockout/Tagout (LOTO) procedure must be followed before any maintenance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04 — Mechanical Installation &amp; Mounting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Site selection, mounting clearances, and environmental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Site &amp; Environmental Requirements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Ambient Temperature: -10°C to +40°C (derate above 40°C)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Humidity: 90% RH max — non-condensing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Altitude: ≤1000 m (derate above 1000 m)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Vibration: ≤0.6G (20–50 Hz); ≤1G (&lt; 20 Hz)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Storage Temp: -20°C to +60°C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Keep away from: direct sunlight, rain, dust, corrosive gas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Atmospheric Pressure: 86 – 106 kPa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Install in IP54 enclosure for dusty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Mounting Procedure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Mount VERTICALLY on panel or DIN rail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Minimum clearances: 10 cm top &amp; bottom, 5 cm left &amp; right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Do NOT mount horizontally or upside-down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Use M4 or M5 screws with proper torque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Multiple VFDs: stagger or provide side vents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Ensure cooling air flows bottom to top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Remove the protective film before powering 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Check nameplate voltage matches supply before wiring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05 — Power Terminal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R/S/T input, U/V/W output, braking and grounding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5577840" cy="15544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Power Input Terminals (R, S,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53583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R, S, T → 3-phase AC mains input (or R, T for single-phase models)
Always connect through MCCB (Moulded Case Circuit Breaker) or fuse
Never connect motor cable to R/S/T — this will DESTROY the drive
Recommended: add AC line reactor at input for harmonic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63040"/>
            <a:ext cx="5943600" cy="15544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536192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Power Output Terminals (U, V, 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8" y="1920240"/>
            <a:ext cx="57241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U, V, W → Connect to motor terminals (3-phase)
Do NOT install contactors between drive output and motor
If contactors are needed, interlock with VFD run signal
Use shielded cable; connect shield to PE at both 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127248"/>
            <a:ext cx="5577840" cy="16002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20040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Braking &amp; DC Bus Terminals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84448"/>
            <a:ext cx="5358383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B1, B2 → External braking resistor connection
Braking resistor needed for applications with high inertia loads
+1, +2 → DC bus terminals for DC bus reactor (harmonic filter)
Never short-circuit the DC bus terminals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3127248"/>
            <a:ext cx="5943600" cy="16002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8" y="3200400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Grounding (PE) &amp; Cable Sizing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3584448"/>
            <a:ext cx="57241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Always connect PE (protective earth) to chassis ground
Separate ground conductor required — do NOT share neutral
Cable sizing: follow NEC/IEC based on drive rated current
Tighten terminals to specified torque (see manual table)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4828032"/>
            <a:ext cx="11795760" cy="173736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901184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Wiring Sequence (Safe Practice)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285232"/>
            <a:ext cx="1157630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Step 1: Install MCCB/fuse → Step 2: Wire R/S/T input → Step 3: Wire U/V/W to motor → Step 4: Connect PE ground → Step 5: Wire control terminals → Step 6: Verify all connections before power-on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05 — Control Terminal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Digital inputs, analog inputs, relay outputs, and RS-485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Digital Input Terminals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FWD (MI1) — Forward Run command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REV (MI2) — Reverse Run command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MI3 – MI6 — Multi-function inputs (programmable)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Common functions: Multi-speed, Jog, External fault, Reset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DCM — Digital common (0V reference)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COM — Common for digital outputs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Logic: NPN (sink) or PNP (source) selectable via jumper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Input voltage: 24VDC internal or external supply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Analog &amp; Output Terminals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AVI  — Analog Voltage Input: 0–10V (speed reference)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ACI  — Analog Current Input: 4–20 mA (speed reference)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ACM  — Analog Common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AFM  — Analog Frequency/Current Output (0–10V or 0–20mA)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MO   — Multi-function Open Collector Output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RA, RB, RC — Relay output (250VAC / 30VDC, 1A)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port: Modbus RTU, 9600–115200 baud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+10V, GND — for external potentiometer (speed pot)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06 — Digital Keypad Operation (KPV-CE01)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Keypad layout, LED display, navigation and status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Keypad Buttons &amp; Functions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▶  RUN    — Start the motor (when keypad control mode)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⏹  STOP   — Stop the motor / Reset fault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▲  UP     — Increase frequency / Scroll parameter up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▼  DOWN   — Decrease frequency / Scroll parameter down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FWD/REV  — Toggle forward/reverse direction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PROG/DATA — Enter parameter programming mode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ENTER    — Confirm parameter value / Enter sub-menu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RESET    — Reset fault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LED Display &amp; Indicators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5-digit 7-segment LED display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Shows: Output frequency (Hz), Output voltage (V),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Output current (A), DC bus voltage, RPM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RUN LED — ON when drive is running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FWD LED — ON for forward direction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REV LED — ON for reverse direction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FAULT LED — ON when fault present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Hz / A / V indicator LEDs for unit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07 — Parameter Groups Overview (P00 – P09)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Complete parameter group structure of VFD-M Series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81328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" y="150876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Drive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Max/Min frequency, base freq, control mode, speed ref 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" y="1997964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202539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2539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Basic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25395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Acceleration/Deceleration time (1&amp;2), Jog freq, Jog accel/decel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14600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" y="254203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542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Operation 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4203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Run/Stop source, direction lock, momentary power loss restart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031236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" y="30586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586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Output Function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05866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Carrier frequency, slip compensation, AVR control, over-voltage stall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3547872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3575303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5753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Input 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575303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Multi-function input terminal (MI3–MI6) configuration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4064508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" y="4091939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09193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Output 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091939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Multi-function output (MO, relay RA/RB) configuration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4581144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" y="460857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0857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Protection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608575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OL1 (motor overload), OC (over-current), OV (over-voltage) settings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5097779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" y="512521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2521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Motor Parameters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125212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Motor rated voltage, current, frequency, poles, no-load current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4592" y="5614416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" y="564184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641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Special Parameters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641848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DC braking, speed search, PID control enable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6131051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1168" y="6158483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6B00"/>
                </a:solidFill>
              </a:rPr>
              <a:t>P09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615848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47AB"/>
                </a:solidFill>
              </a:rPr>
              <a:t>Communication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6158483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RS-485 address, baud rate, parity, Modbus protocol settings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07 — Key Parameters: P00 &amp; P01 (Drive &amp; Basic)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Frequency settings, acceleration/deceleration time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81328"/>
            <a:ext cx="1179576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50876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Param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5087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901952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" y="192938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929384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Max Output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29384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50.00 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92938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0.10–400.0 Hz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92938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Sets the maximum output frequency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2414016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" y="244144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44144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Base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44144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50.00 Hz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244144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0.10–400.0 Hz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244144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rated frequency (nameplate)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2926080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" y="295351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5351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Rated Voltage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295351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220V / 380V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295351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Depends on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95351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nameplate voltage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" y="3438144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" y="3465576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65576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Output Freq Limit 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0128" y="3465576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50.00 Hz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3465576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 – P00.00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4224" y="3465576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Upper frequency clamp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3950208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3977639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977639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Output Freq Limit 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10128" y="3977639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0.00 Hz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3977639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 – P00.03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3977639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Lower frequency clamp (min speed)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4462272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" y="4489704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489704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Control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0128" y="4489704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6" y="4489704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0=V/F, 2=SVC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4489704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Select V/F or Sensorless Vector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64592" y="4974336"/>
            <a:ext cx="11795760" cy="475488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4592" y="5001768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001768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Frequency Command Source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0128" y="5001768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34256" y="500176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0=Keypad, 1=AVI, 2=ACI, 3=RS485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5001768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Speed reference source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64592" y="5486400"/>
            <a:ext cx="11795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64592" y="5513832"/>
            <a:ext cx="822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FF6B00"/>
                </a:solidFill>
              </a:rPr>
              <a:t>P00.07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" y="5513832"/>
            <a:ext cx="2286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Run/Stop Command Source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0128" y="5513832"/>
            <a:ext cx="1005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34256" y="5513832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0=Keypad, 1=External terminal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5513832"/>
            <a:ext cx="5212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Control source selection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07 — Important Parameters: P01, P02, P07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Accel/Decel, Run source, Motor auto-tune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11795760" cy="196596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P01 — Basic Parameters (Accel/Decel)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57630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P01.00 Accel Time 1:  Default 10s  | Range: 0.1–600s — Time to ramp from 0 to max freq
P01.01 Decel Time 1:  Default 10s  | Range: 0.1–600s — Time to ramp from max to 0
P01.02 Accel Time 2:  Secondary accel time (switched via MI terminal)
P01.03 Decel Time 2:  Secondary decel time
P01.04 Jog Frequency: Default 6 Hz | Used when JOG command activated
P01.05 Jog Accel/Decel: Separate accel/decel time for jog operation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3547872"/>
            <a:ext cx="11795760" cy="169164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621024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P02 — Operation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005072"/>
            <a:ext cx="115763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P02.00 Run/Stop Source: 0=Keypad, 1=Terminal, 2=RS-485
P02.01 Frequency Source: 0=Keypad UP/DN, 1=AVI (0–10V), 2=ACI (4–20mA), 3=RS-485
P02.02 Momentary Power Loss Restart: 0=Disable, 1=Enable (drive restarts after power recovery)
P02.03 Direction Lock: 0=Both, 1=FWD only, 2=REV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5349240"/>
            <a:ext cx="11795760" cy="169164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542239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P07 — Motor Parameters (for Auto-Tune)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806440"/>
            <a:ext cx="115763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P07.00 Motor Rated Voltage (V)  — enter motor nameplate value
P07.01 Motor Rated Current (A)  — enter motor nameplate FLA
P07.02 Motor Base Frequency (Hz)— usually 50 Hz
P07.03 Motor Rated RPM          — e.g. 1450 RPM for 4-pole 50 Hz motor
P07.04 Number of Motor Poles    — e.g. 4
P07.05 No-load Current (A)      — measured during auto-tune; improves SVC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08 — Control Modes &amp; Speed Reference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Keypad, analog input, multi-speed, RS-485, and PID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Speed Reference Sources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Keypad Control (P00.06=0): Use ▲/▼ keys to set frequency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Analog Voltage AVI (P00.06=1): 0–10V potentiometer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0V = 0 Hz,  10V = Max Frequency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Analog Current ACI (P00.06=2): 4–20 mA signal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4mA = 0 Hz,  20mA = Max Frequency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Modbus (P00.06=3): PC or PLC sets frequency via protocol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Multi-Speed Presets (P04 group): Up to 15 fixed speeds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PID Output: Process feedback control (e.g., pressure, flow)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Run / Stop Command Sources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Keypad (P02.00=0): RUN / STOP keys on keypad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External Terminal (P02.00=1):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FWD terminal → motor runs forward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REV terminal → motor runs reverse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Both open → motor stops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(P02.00=2): Remote Modbus command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Jog Mode: Momentary run at jog frequency (P01.04)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Multi-Function Inputs (MI3–MI6): map to speed, fault reset,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09 — Motor Auto-Tuning &amp; Performance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V/F curve, slip compensation, and sensorless vector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11795760" cy="182880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Auto-Tuning Procedure (Step-by-Step)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5763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1. Enter motor nameplate data into P07.00–P07.04
2. Set P05.00 = 12 (Auto-Tuning function) on a Multi-Function output or via keypad
3. Press RUN → Drive will energize motor and measure: stator resistance, leakage inductance
4. Results stored automatically in P07.05 (no-load current) and related registers
5. After tune complete: verify performance by running motor at low speed (5–10 Hz)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3401568"/>
            <a:ext cx="5577840" cy="210312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474720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V/F Curve Settings (P00 group)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858768"/>
            <a:ext cx="5358383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Linear V/F: Constant torque loads (conveyors, compressors) — voltage increases linearly with freq
Square V/F: Variable torque (fans, pumps) — energy efficient, voltage increases as square of freq
Custom V/F: P03.00–P03.03 define up to 4 V/F breakpoints for special motor requirements
Base Frequency (P00.01): Match to motor nameplate (50 Hz in Bangladesh/India)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401568"/>
            <a:ext cx="5943600" cy="210312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474720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Slip Compensation &amp; DC Braking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858768"/>
            <a:ext cx="5724144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Slip Compensation (P03.07): Compensates for speed drop under load
  Higher value → better speed regulation under varying loads
DC Braking (P08.00–P08.03):
  P08.00 = DC braking current (%)
  P08.01 = DC braking time at start
  P08.02 = DC braking time at stop
  Use for: hoists, cranes, precise stop applications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5614416"/>
            <a:ext cx="11795760" cy="146304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687568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Performance Tips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071616"/>
            <a:ext cx="115763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Increase carrier frequency (P03.00) for quieter motor operation (reduces audible noise)
Enable AVR (P03.08=1): Auto-Voltage Regulation maintains stable output during input fluctuation
Stall prevention (P06.01): Prevents drive trip during acceleration with heavy loads
Skip frequencies (P04.13–P04.15): Avoid mechanical resonance frequencies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10 — Protective Functions &amp; Fault Codes (Part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Over-current, over-voltage, under-voltage, overload faults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81328"/>
            <a:ext cx="1179576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5087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901952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938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2938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Over-Current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929384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Output current exceeded trip level (150–200% rated)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293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Reduce load, increase accel time, check motor wiring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2468880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" y="249631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OV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49631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Over-Voltage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4963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DC bus voltage too high (&gt; ~410V for 230V model)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4963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Add braking resistor, increase decel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035808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306323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UV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6323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Under-Voltage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063239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DC bus too low — mains supply dropout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063239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power supply, check MCCB, check input fuses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602736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" y="36301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OL1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6301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Overload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363016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overloaded based on I²t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6301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Reduce load, check motor size, set P06.01 correctly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4169664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419709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OL2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970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Drive Overload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0048" y="419709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Drive itself overloaded — 150% for &gt;60s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19709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Reduce load, upgrade to higher rated drive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4736592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47640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OH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6402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Overheat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4764024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Heat sink temperature too high (&gt;85°C)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476402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Clean cooling fins, check ambient temp, improve ventilation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5303520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533095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PHL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Phase Loss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0048" y="533095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One or more input or output phases missing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53309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R/S/T connections, check fuses, check motor cable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" y="5870448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4592" y="589787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GFF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589787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Ground Fault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0048" y="5897879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Ground leakage current detected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7376" y="5897879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motor insulation, check cable shields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10 — Fault Codes (Part 2) &amp; Protection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Communication faults, hardware faults, and protection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81328"/>
            <a:ext cx="11795760" cy="384048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508760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5087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Cause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5087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FFFFFF"/>
                </a:solidFill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901952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" y="192938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2938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External 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929384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Fault signal received on MI terminal (EF function assigned)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293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external device/sensor, clear fault, reset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2468880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" y="249631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CF1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49631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Memory Read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49631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EEPROM internal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49631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Press RESET; if persists replace keypad/PCB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3035808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306323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CF3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063239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CPU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3063239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Internal processor 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063239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Power cycle drive; contact Delta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3602736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" y="363016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LV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630168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Low Voltage Warning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3630168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Input voltage dropped below threshold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6301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mains voltage; enable auto-restart if needed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4169664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" y="419709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CE1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197096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Comm Frame 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0048" y="4197096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RS-485 data frame 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19709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baud rate (P09.01), parity (P09.02) settings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4736592"/>
            <a:ext cx="11795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" y="47640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CE2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764024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Comm Checksum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4764024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Modbus CRC/LRC mismatch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476402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Check cable shielding, cable length &lt; 500m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5303520"/>
            <a:ext cx="11795760" cy="530352"/>
          </a:xfrm>
          <a:prstGeom prst="rect">
            <a:avLst/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4592" y="533095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CC0000"/>
                </a:solidFill>
              </a:rPr>
              <a:t>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33095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Speed Error (SVC)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70048" y="5330952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Motor speed feedback error in SVC mode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5330952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2D2D2D"/>
                </a:solidFill>
              </a:rPr>
              <a:t>Re-run auto-tune, check motor parameters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" y="5916168"/>
            <a:ext cx="11795760" cy="804672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989320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Fault Reset Methods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" y="6373368"/>
            <a:ext cx="11576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Method 1: Press STOP/RESET key on keypad
Method 2: Toggle EF reset terminal (MI assigned to Reset)
Method 3: Send Modbus reset command via RS-485
Method 4: Power cycle (OFF → wait 5s → ON) — only if fault is cleared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11 — Industrial Application: Pump &amp; Fan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Constant pressure water supply using PID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11795760" cy="141732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Application: Constant Pressure Water Pump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115763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Sensor: Pressure transducer → 4–20 mA signal to ACI terminal
Setpoint: Desired pressure entered as P08.10 (PID setpoint)
PID Action: Drive varies motor speed to maintain constant pressure
Benefits: Energy saving, eliminates pressure surges, extends pump life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2999232"/>
            <a:ext cx="5577840" cy="219456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72384"/>
            <a:ext cx="53583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PID Parameter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456432"/>
            <a:ext cx="5358383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P08.10 — PID Setpoint (target value, 0–100%)
P08.11 — PID Feedback Source: 1=ACI (4–20mA pressure transducer)
P08.12 — Proportional Gain (Kp): Higher = faster response
P08.13 — Integral Time (Ti): Lower = more aggressive integration
P08.14 — Derivative Time (Td): Reduces overshoot
P08.15 — PID Output Upper Limit / Lower Limit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2999232"/>
            <a:ext cx="5943600" cy="219456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072384"/>
            <a:ext cx="5724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Fan Speed Control (Energy Saving)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3456432"/>
            <a:ext cx="5724144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Use Square V/F curve (P03.06 = 2) for centrifugal fans/pumps
Speed reduction from 100% to 80% → power drops to ~51%
Speed reduction from 100% to 50% → power drops to ~12.5%
P(speed) ∝ Speed³  — Affinity Law for centrifugal loads
ROI on VFD installation: typically &lt; 18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4592" y="5303520"/>
            <a:ext cx="11795760" cy="1325880"/>
          </a:xfrm>
          <a:prstGeom prst="rect">
            <a:avLst/>
          </a:prstGeom>
          <a:solidFill>
            <a:srgbClr val="F0F4F8"/>
          </a:solidFill>
          <a:ln w="1524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5376672"/>
            <a:ext cx="11576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Typical Parameter Setup: 5.5 kW Water Pump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760720"/>
            <a:ext cx="115763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P00.01=50Hz, P00.03=50Hz, P00.04=20Hz | P01.00=15s, P01.01=15s | P02.00=1 (terminal), P02.01=2 (ACI 4-20mA) | P07.01=11A (motor FLA) | P08.10=60% (setpoint), P08.11=1 (ACI feedback)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11 — Application: CNC / Conveyor / Multi-Speed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Spindle control, conveyor preset speeds, and RS-485 Modbus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CNC Router Spindle Control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Use AVI (0–10V) from CNC controller to AVI terminal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P00.06 = 1 (AVI frequency source)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P00.02 = 1 (External terminal run/stop)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P00.00 = 400 Hz (max for spindle motor)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P01.00 = 3s, P01.01 = 3s (fast accel/decel)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P03.00 = 12 kHz (high carrier for quiet operation)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P07.01 = spindle motor FLA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Auto-tune P07 parameters for best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Conveyor Multi-Speed Preset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Up to 15 speed presets via MI terminals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MI3 + MI4 combination selects speed 1–15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P04.05 = Speed 1 (e.g. 10 Hz — slow)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P04.06 = Speed 2 (e.g. 25 Hz — medium)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P04.07 = Speed 3 (e.g. 40 Hz — fast)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P04.08 = Speed 4 (e.g. 50 Hz — full speed)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PLC controls MI terminals for automatic speed selection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Relay output configured to signal 'at speed' status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12 — Preventive Maintenance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Daily, monthly, semi-annual, and annual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1463040"/>
            <a:ext cx="566928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5449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Daily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54498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✔  Check for unusual noise or vibration from motor
✔  Monitor output frequency and current on display
✔  Verify cooling fan is running (larger models)
✔  Check ambient temperature is within spec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63040"/>
            <a:ext cx="566928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5449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0047AB"/>
                </a:solidFill>
              </a:rPr>
              <a:t>Monthly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920240"/>
            <a:ext cx="54498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✔  Clean air vents and heat sink fins (compressed air)
✔  Check all terminal screws for looseness
✔  Inspect power cables for insulation damage
✔  Verify control terminal connections are secure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858768"/>
            <a:ext cx="566928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931920"/>
            <a:ext cx="5449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6B00"/>
                </a:solidFill>
              </a:rPr>
              <a:t>Semi-Annual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315968"/>
            <a:ext cx="54498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✔  Measure input voltage balance (all 3 phases)
✔  Check motor insulation with megger (&gt;1 MΩ)
✔  Inspect capacitors for bulging or leakage
✔  Test relay output contacts for wear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858768"/>
            <a:ext cx="5669280" cy="2286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3931920"/>
            <a:ext cx="5449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FF6B00"/>
                </a:solidFill>
              </a:rPr>
              <a:t>Annual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315968"/>
            <a:ext cx="54498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2D2D2D"/>
                </a:solidFill>
              </a:rPr>
              <a:t>✔  Replace cooling fan if noisy or slow (lifespan ~3 years)
✔  Check electrolytic capacitors (lifespan 5–10 years)
✔  Full parameter backup via keypad or RS-485
✔  Load test drive at full capacity; log current readings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7315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>
                <a:solidFill>
                  <a:srgbClr val="FFFFFF"/>
                </a:solidFill>
              </a:rPr>
              <a:t>Module 12 — Troubleshooting Guide &amp;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49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600">
                <a:solidFill>
                  <a:srgbClr val="CCDDFF"/>
                </a:solidFill>
              </a:rPr>
              <a:t>Common problems, solutions, and pro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325880"/>
            <a:ext cx="73152" cy="5532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463040"/>
            <a:ext cx="36576" cy="5120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Common Troubleshooting Scenarios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Problem: Motor doesn't start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Check run source (P02.00), check FWD/REV terminal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Check min frequency P00.04 is not too high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Problem: Motor runs but wrong speed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Check P00.06 (freq source), verify AVI/ACI signal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Problem: OC fault on start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Increase accel time P01.00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Check for locked rotor / mechanical jam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Problem: OV fault on stop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Increase decel time P01.01</a:t>
            </a:r>
          </a:p>
          <a:p>
            <a:pPr algn="l" lvl="1"/>
            <a:r>
              <a:rPr sz="1400">
                <a:solidFill>
                  <a:srgbClr val="2D2D2D"/>
                </a:solidFill>
              </a:rPr>
              <a:t>    •  → Install braking resistor (B1-B2 terminals)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0047AB"/>
                </a:solidFill>
              </a:rPr>
              <a:t>Best Practices &amp; Pro Tips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Always back up parameters before changes (note down all Pxx values)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Use shielded cable for motor wiring &gt; 5 metres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Install EMI filter at input for sensitive electronic environments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Never use a contactor on the output side without VFD interlock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Set motor overload P06.01 = motor FLA for proper protection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For PLC integration: use sink/source jumper matching PLC output type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RS-485 Modbus: use 120Ω termination resistor at last device</a:t>
            </a:r>
          </a:p>
          <a:p>
            <a:pPr algn="l"/>
            <a:r>
              <a:rPr sz="1400">
                <a:solidFill>
                  <a:srgbClr val="2D2D2D"/>
                </a:solidFill>
              </a:rPr>
              <a:t>▶  Always verify drive rating ≥ motor kW before installation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9663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Course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01: VFD basics, working principle,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099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02: Delta VFD-M model codes, specs, accessories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854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03: Safety — DANGER / WARNING / CAUTION guidelines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6090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04: Mechanical installation, clearances,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363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05: Power &amp; control terminal wiring (R/S/T, U/V/W, MI, AVI, ACI)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06: Keypad operation, LED display,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07: Parameter groups P00–P09 — complete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7099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08: Speed reference sources &amp; run/stop control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1854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09: Auto-tuning, V/F curve, DC braking,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6090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10: Fault codes (OC/OV/UV/OL/OH) &amp; protection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13639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11: Applications — pump PID, CNC spindle, multi-speed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61188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FFFFFF"/>
                </a:solidFill>
              </a:rPr>
              <a:t>✔  Module 12: Maintenance schedule &amp; troubleshooting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074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2200">
                <a:solidFill>
                  <a:srgbClr val="FFFFFF"/>
                </a:solidFill>
              </a:rPr>
              <a:t>Thank You for Completing the Delta VFD-M Training Course!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500">
                <a:solidFill>
                  <a:srgbClr val="AACCFF"/>
                </a:solidFill>
              </a:rPr>
              <a:t>Delta Electronics  |  Industrial Automation Training Division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6811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300">
                <a:solidFill>
                  <a:srgbClr val="99BBFF"/>
                </a:solidFill>
              </a:rPr>
              <a:t>For technical support: www.delta-ia.com.tw  |  support@deltaww.com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77AAFF"/>
                </a:solidFill>
              </a:rPr>
              <a:t>© Delta Electronics —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